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4"/>
  </p:notesMasterIdLst>
  <p:sldIdLst>
    <p:sldId id="256" r:id="rId2"/>
    <p:sldId id="267" r:id="rId3"/>
    <p:sldId id="268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70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3" d="100"/>
          <a:sy n="83" d="100"/>
        </p:scale>
        <p:origin x="1450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27D342-45E4-4884-A144-9402EEAA3A85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5D23C6-2441-4401-B864-83834FED94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91368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18149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Detailed speaker note:</a:t>
            </a:r>
          </a:p>
          <a:p>
            <a:r>
              <a:rPr dirty="0"/>
              <a:t>The narrative and technical traces presented here are drawn from the uploaded Therac-25 case study and seminal analyses (</a:t>
            </a:r>
            <a:r>
              <a:rPr dirty="0" err="1"/>
              <a:t>Leveson</a:t>
            </a:r>
            <a:r>
              <a:rPr dirty="0"/>
              <a:t> &amp; Turner, 1993). For deeper methods and concrete model-checker examples, see the references in the appendix. The uploaded document includes suggested temporal properties and illustrative model-checking approaches used to find the concurrency counterexample. </a:t>
            </a:r>
          </a:p>
          <a:p>
            <a:endParaRPr dirty="0"/>
          </a:p>
          <a:p>
            <a:r>
              <a:rPr dirty="0"/>
              <a:t>Plain-language explanation:</a:t>
            </a:r>
          </a:p>
          <a:p>
            <a:r>
              <a:rPr dirty="0"/>
              <a:t>If you want more reading, the references include accessible summaries of the incidents and practical papers about safety in medical devices.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8599395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42416" y="2514601"/>
            <a:ext cx="6600451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42416" y="4777380"/>
            <a:ext cx="6600451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8"/>
          <p:cNvSpPr/>
          <p:nvPr/>
        </p:nvSpPr>
        <p:spPr bwMode="auto">
          <a:xfrm>
            <a:off x="-31719" y="4321158"/>
            <a:ext cx="1395473" cy="781781"/>
          </a:xfrm>
          <a:custGeom>
            <a:avLst/>
            <a:gdLst/>
            <a:ahLst/>
            <a:cxnLst/>
            <a:rect l="l" t="t" r="r" b="b"/>
            <a:pathLst>
              <a:path w="8042" h="10000">
                <a:moveTo>
                  <a:pt x="5799" y="10000"/>
                </a:moveTo>
                <a:cubicBezTo>
                  <a:pt x="5880" y="10000"/>
                  <a:pt x="5934" y="9940"/>
                  <a:pt x="5961" y="9880"/>
                </a:cubicBezTo>
                <a:cubicBezTo>
                  <a:pt x="5961" y="9820"/>
                  <a:pt x="5988" y="9820"/>
                  <a:pt x="5988" y="9820"/>
                </a:cubicBezTo>
                <a:lnTo>
                  <a:pt x="8042" y="5260"/>
                </a:lnTo>
                <a:cubicBezTo>
                  <a:pt x="8096" y="5140"/>
                  <a:pt x="8096" y="4901"/>
                  <a:pt x="8042" y="4721"/>
                </a:cubicBezTo>
                <a:lnTo>
                  <a:pt x="5988" y="221"/>
                </a:lnTo>
                <a:cubicBezTo>
                  <a:pt x="5988" y="160"/>
                  <a:pt x="5961" y="160"/>
                  <a:pt x="5961" y="160"/>
                </a:cubicBezTo>
                <a:cubicBezTo>
                  <a:pt x="5934" y="101"/>
                  <a:pt x="5880" y="41"/>
                  <a:pt x="5799" y="41"/>
                </a:cubicBezTo>
                <a:lnTo>
                  <a:pt x="18" y="0"/>
                </a:lnTo>
                <a:cubicBezTo>
                  <a:pt x="12" y="3330"/>
                  <a:pt x="6" y="6661"/>
                  <a:pt x="0" y="9991"/>
                </a:cubicBezTo>
                <a:lnTo>
                  <a:pt x="5799" y="10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23334" y="4529541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91416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1" y="624110"/>
            <a:ext cx="6589199" cy="128089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2415" y="2133600"/>
            <a:ext cx="6591985" cy="377762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1764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074562"/>
            <a:ext cx="6591985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3581400"/>
            <a:ext cx="659198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29884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42416" y="2136706"/>
            <a:ext cx="3197531" cy="376739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37307" y="2136706"/>
            <a:ext cx="3197093" cy="376739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01607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5352" y="2226626"/>
            <a:ext cx="287459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42415" y="2802888"/>
            <a:ext cx="3197532" cy="3105703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6154" y="2223398"/>
            <a:ext cx="28732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333715" y="2799660"/>
            <a:ext cx="3195680" cy="3105703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14415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11756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46932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46088"/>
            <a:ext cx="2629584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3494" y="446089"/>
            <a:ext cx="3790906" cy="5414963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1598613"/>
            <a:ext cx="2629584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72239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800600"/>
            <a:ext cx="6591985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42415" y="634965"/>
            <a:ext cx="6591985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367338"/>
            <a:ext cx="6591985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91774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609600"/>
            <a:ext cx="6591985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2699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15972" y="3505200"/>
            <a:ext cx="5653888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43812477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438401"/>
            <a:ext cx="6591985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05351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688292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688292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57870369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6" y="627407"/>
            <a:ext cx="6591984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591985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539934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645620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8535" y="627406"/>
            <a:ext cx="1656132" cy="5283817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42416" y="627406"/>
            <a:ext cx="4716348" cy="5283817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97146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5"/>
          <p:cNvGrpSpPr/>
          <p:nvPr/>
        </p:nvGrpSpPr>
        <p:grpSpPr>
          <a:xfrm>
            <a:off x="1" y="228600"/>
            <a:ext cx="1981200" cy="6638628"/>
            <a:chOff x="2487613" y="285750"/>
            <a:chExt cx="2428875" cy="5654676"/>
          </a:xfrm>
        </p:grpSpPr>
        <p:sp>
          <p:nvSpPr>
            <p:cNvPr id="37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8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9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0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1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2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3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4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5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6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7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8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49" name="Group 48"/>
          <p:cNvGrpSpPr/>
          <p:nvPr/>
        </p:nvGrpSpPr>
        <p:grpSpPr>
          <a:xfrm>
            <a:off x="20421" y="285"/>
            <a:ext cx="1952272" cy="6852968"/>
            <a:chOff x="6627813" y="195717"/>
            <a:chExt cx="1952625" cy="5678034"/>
          </a:xfrm>
        </p:grpSpPr>
        <p:sp>
          <p:nvSpPr>
            <p:cNvPr id="50" name="Freeform 27"/>
            <p:cNvSpPr/>
            <p:nvPr/>
          </p:nvSpPr>
          <p:spPr bwMode="auto">
            <a:xfrm>
              <a:off x="6627813" y="195717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1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2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3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4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5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6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7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8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9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0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1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62" name="Rectangle 6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2133600"/>
            <a:ext cx="6591985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772400" y="6135089"/>
            <a:ext cx="766380" cy="370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42415" y="6135809"/>
            <a:ext cx="57164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11228" y="787783"/>
            <a:ext cx="58497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50782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51688" y="1597152"/>
            <a:ext cx="8275320" cy="3035807"/>
          </a:xfrm>
        </p:spPr>
        <p:txBody>
          <a:bodyPr>
            <a:normAutofit/>
          </a:bodyPr>
          <a:lstStyle/>
          <a:p>
            <a:pPr algn="ctr"/>
            <a:r>
              <a:rPr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Case Study: </a:t>
            </a:r>
            <a:r>
              <a:rPr lang="en-US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400" dirty="0"/>
              <a:t>Therac-25  Software &amp; Safety Failure Case Study</a:t>
            </a:r>
            <a:endParaRPr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89889" y="624110"/>
            <a:ext cx="3718559" cy="741394"/>
          </a:xfrm>
        </p:spPr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Group Members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0447" y="2052925"/>
            <a:ext cx="8752114" cy="4195481"/>
          </a:xfrm>
        </p:spPr>
        <p:txBody>
          <a:bodyPr>
            <a:normAutofit/>
          </a:bodyPr>
          <a:lstStyle/>
          <a:p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400622038914 - TIFFANY AFRAKUMA ANKUMA PLANGE</a:t>
            </a:r>
          </a:p>
          <a:p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400622039070 – MICHAEL OFOSU KORANTENG</a:t>
            </a:r>
          </a:p>
          <a:p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400622038925 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– TILONLEEB KONLAN</a:t>
            </a:r>
          </a:p>
          <a:p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400622039195 – AARON KWESI FYNN 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14476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80161" y="719328"/>
            <a:ext cx="7254240" cy="5191894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Background &amp; machine context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Plain-language summary of the overdoses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Timeline &amp; example incident trace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Technical root causes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Formal verification approaches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Practical mitigations &amp; checklist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&amp; references</a:t>
            </a:r>
          </a:p>
          <a:p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49412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8784" y="1731264"/>
            <a:ext cx="7595616" cy="3777622"/>
          </a:xfrm>
        </p:spPr>
        <p:txBody>
          <a:bodyPr>
            <a:normAutofit/>
          </a:bodyPr>
          <a:lstStyle/>
          <a:p>
            <a:pPr algn="just"/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defRPr sz="1800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Therac-25 function: a computer-controlled linear accelerator for cancer therapy</a:t>
            </a:r>
          </a:p>
          <a:p>
            <a:pPr algn="just">
              <a:defRPr sz="1800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choice: replaced many hardware interlocks with software control</a:t>
            </a:r>
          </a:p>
          <a:p>
            <a:pPr algn="just">
              <a:defRPr sz="1800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Operator workflow: console data entry and mode selection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55904" y="1463040"/>
            <a:ext cx="7778496" cy="3777622"/>
          </a:xfrm>
        </p:spPr>
        <p:txBody>
          <a:bodyPr>
            <a:normAutofit/>
          </a:bodyPr>
          <a:lstStyle/>
          <a:p>
            <a:pPr algn="just"/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defRPr sz="1800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Several patients received massive radiation overdoses in the mid-1980s; some resulted in severe injury and death. </a:t>
            </a:r>
          </a:p>
          <a:p>
            <a:pPr algn="just">
              <a:defRPr sz="1800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Simple explanation: a particular rapid sequence of operator inputs and timing could make the machine switch modes incorrectly, and because hardware protections were absent, dangerous radiation was delivered.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Detailed incident timeline 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8785" y="1536192"/>
            <a:ext cx="7790688" cy="3777622"/>
          </a:xfrm>
        </p:spPr>
        <p:txBody>
          <a:bodyPr>
            <a:normAutofit/>
          </a:bodyPr>
          <a:lstStyle/>
          <a:p>
            <a:pPr algn="just"/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defRPr sz="1800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Operator inputs parameters → input handler updates shared state</a:t>
            </a:r>
          </a:p>
          <a:p>
            <a:pPr algn="just">
              <a:defRPr sz="1800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Beam controller reads state during a timing window → mode transition incomplete</a:t>
            </a:r>
          </a:p>
          <a:p>
            <a:pPr algn="just">
              <a:defRPr sz="1800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Beam enabled without target → overdose delivered → cryptic error shown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Technical root causes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6865" y="1463040"/>
            <a:ext cx="7717536" cy="3777622"/>
          </a:xfrm>
        </p:spPr>
        <p:txBody>
          <a:bodyPr>
            <a:normAutofit/>
          </a:bodyPr>
          <a:lstStyle/>
          <a:p>
            <a:pPr algn="just"/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/>
              <a:t>Race condition / concurrency bug in control software (unsynchronized access to shared variables)</a:t>
            </a:r>
          </a:p>
          <a:p>
            <a:r>
              <a:rPr lang="en-US" sz="2400" dirty="0"/>
              <a:t>Overreliance on software for safety hardware interlocks removed or weakened</a:t>
            </a:r>
          </a:p>
          <a:p>
            <a:r>
              <a:rPr lang="en-US" sz="2400" dirty="0"/>
              <a:t>Poor error reporting and a failure to model realistic fast operator behavior. </a:t>
            </a: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Evidence &amp; example reproductions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6177" y="1536192"/>
            <a:ext cx="8046720" cy="3777622"/>
          </a:xfrm>
        </p:spPr>
        <p:txBody>
          <a:bodyPr>
            <a:normAutofit/>
          </a:bodyPr>
          <a:lstStyle/>
          <a:p>
            <a:pPr algn="just"/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/>
              <a:t>Reconstructed keystroke interleaving trace that the model checker would output as a counterexample</a:t>
            </a:r>
          </a:p>
          <a:p>
            <a:r>
              <a:rPr lang="en-US" sz="2400" dirty="0"/>
              <a:t>Mock console logs showing cryptic error messages and timing marks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02081" y="624110"/>
            <a:ext cx="7132320" cy="1280890"/>
          </a:xfrm>
        </p:spPr>
        <p:txBody>
          <a:bodyPr>
            <a:normAutofit/>
          </a:bodyPr>
          <a:lstStyle/>
          <a:p>
            <a:r>
              <a:rPr lang="en-US" dirty="0"/>
              <a:t>How formal methods would have helped 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2752" y="1524000"/>
            <a:ext cx="8266175" cy="3777622"/>
          </a:xfrm>
        </p:spPr>
        <p:txBody>
          <a:bodyPr>
            <a:noAutofit/>
          </a:bodyPr>
          <a:lstStyle/>
          <a:p>
            <a:pPr algn="just"/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/>
              <a:t>Model checking of the composed user + machine model to exhaustively find unsafe </a:t>
            </a:r>
            <a:r>
              <a:rPr lang="en-US" sz="2400" dirty="0" err="1"/>
              <a:t>interleavings</a:t>
            </a:r>
            <a:endParaRPr lang="en-US" sz="2400" dirty="0"/>
          </a:p>
          <a:p>
            <a:r>
              <a:rPr lang="en-US" sz="2400" dirty="0"/>
              <a:t>Formal temporal properties such as `</a:t>
            </a:r>
            <a:r>
              <a:rPr lang="en-US" sz="2400" dirty="0" err="1"/>
              <a:t>Beam_ON</a:t>
            </a:r>
            <a:r>
              <a:rPr lang="en-US" sz="2400" dirty="0"/>
              <a:t> → </a:t>
            </a:r>
            <a:r>
              <a:rPr lang="en-US" sz="2400" dirty="0" err="1"/>
              <a:t>TargetInPlace</a:t>
            </a:r>
            <a:r>
              <a:rPr lang="en-US" sz="2400" dirty="0"/>
              <a:t>`</a:t>
            </a:r>
          </a:p>
          <a:p>
            <a:r>
              <a:rPr lang="en-US" sz="2400" dirty="0"/>
              <a:t>Runtime assertions (in code) as a last line of defense plus independent hardware watchdogs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Practical mitigations &amp; checklist (detailed)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6177" y="1548384"/>
            <a:ext cx="8058912" cy="3777622"/>
          </a:xfrm>
        </p:spPr>
        <p:txBody>
          <a:bodyPr>
            <a:normAutofit/>
          </a:bodyPr>
          <a:lstStyle/>
          <a:p>
            <a:pPr algn="just"/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/>
              <a:t>Reintroduce independent hardware interlocks for critical physical functions</a:t>
            </a:r>
          </a:p>
          <a:p>
            <a:r>
              <a:rPr lang="en-US" sz="2400" dirty="0"/>
              <a:t>Use model-based tests and model checking that include realistic operator models</a:t>
            </a:r>
          </a:p>
          <a:p>
            <a:r>
              <a:rPr lang="en-US" sz="2400" dirty="0"/>
              <a:t>Improve error reporting to provide actionable diagnostics and add robust logging for post-incident analysis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System-Level Integration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07137" y="1499616"/>
            <a:ext cx="7912608" cy="3777622"/>
          </a:xfrm>
        </p:spPr>
        <p:txBody>
          <a:bodyPr>
            <a:normAutofit/>
          </a:bodyPr>
          <a:lstStyle/>
          <a:p>
            <a:pPr algn="just"/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defRPr sz="18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Failures often arise from interactions, not single components.</a:t>
            </a:r>
          </a:p>
          <a:p>
            <a:pPr algn="just">
              <a:defRPr sz="18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Formal integration models all components (IRUs, OBC, actuators) together.</a:t>
            </a:r>
          </a:p>
          <a:p>
            <a:pPr algn="just">
              <a:defRPr sz="18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Verification ensures redundancy and diagnostics behave correctly under fault conditions.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References &amp; further reading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Clarke, E. M., </a:t>
            </a:r>
            <a:r>
              <a:rPr lang="en-US" dirty="0" err="1"/>
              <a:t>Grumberg</a:t>
            </a:r>
            <a:r>
              <a:rPr lang="en-US" dirty="0"/>
              <a:t>, O., &amp; </a:t>
            </a:r>
            <a:r>
              <a:rPr lang="en-US" dirty="0" err="1"/>
              <a:t>Peled</a:t>
            </a:r>
            <a:r>
              <a:rPr lang="en-US" dirty="0"/>
              <a:t>, D. (1999). Model Checking. MIT Press.</a:t>
            </a:r>
          </a:p>
          <a:p>
            <a:r>
              <a:rPr lang="en-US" dirty="0"/>
              <a:t>De Moura, L., &amp; </a:t>
            </a:r>
            <a:r>
              <a:rPr lang="en-US" dirty="0" err="1"/>
              <a:t>Bjørner</a:t>
            </a:r>
            <a:r>
              <a:rPr lang="en-US" dirty="0"/>
              <a:t>, N. (2008). Z3: An Efficient SMT Solver. In Tools and Algorithms for the Construction and Analysis of Systems.</a:t>
            </a:r>
          </a:p>
          <a:p>
            <a:r>
              <a:rPr lang="en-US" dirty="0"/>
              <a:t>King, J. C. (1976). Symbolic Execution and Program Testing. Communications of the ACM.</a:t>
            </a:r>
          </a:p>
          <a:p>
            <a:r>
              <a:rPr lang="en-US" dirty="0" err="1"/>
              <a:t>Leveson</a:t>
            </a:r>
            <a:r>
              <a:rPr lang="en-US" dirty="0"/>
              <a:t>, N. G. (1995). </a:t>
            </a:r>
            <a:r>
              <a:rPr lang="en-US" dirty="0" err="1"/>
              <a:t>Safeware</a:t>
            </a:r>
            <a:r>
              <a:rPr lang="en-US" dirty="0"/>
              <a:t>: System Safety and Computers. Addison-Wesley.</a:t>
            </a:r>
          </a:p>
          <a:p>
            <a:r>
              <a:rPr lang="en-US" dirty="0" err="1"/>
              <a:t>Leveson</a:t>
            </a:r>
            <a:r>
              <a:rPr lang="en-US" dirty="0"/>
              <a:t>, N. G., &amp; Turner, C. S. (1993). An Investigation of the Therac-25 Accidents. IEEE Computer.</a:t>
            </a:r>
          </a:p>
          <a:p>
            <a:r>
              <a:rPr lang="en-US" dirty="0"/>
              <a:t>Meyer, B. (1992). Applying "Design by Contract". IEEE Computer.</a:t>
            </a:r>
          </a:p>
        </p:txBody>
      </p:sp>
    </p:spTree>
    <p:extLst>
      <p:ext uri="{BB962C8B-B14F-4D97-AF65-F5344CB8AC3E}">
        <p14:creationId xmlns:p14="http://schemas.microsoft.com/office/powerpoint/2010/main" val="1036164907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156</TotalTime>
  <Words>587</Words>
  <Application>Microsoft Office PowerPoint</Application>
  <PresentationFormat>On-screen Show (4:3)</PresentationFormat>
  <Paragraphs>64</Paragraphs>
  <Slides>12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Calibri</vt:lpstr>
      <vt:lpstr>Century Gothic</vt:lpstr>
      <vt:lpstr>Times New Roman</vt:lpstr>
      <vt:lpstr>Wingdings 3</vt:lpstr>
      <vt:lpstr>Wisp</vt:lpstr>
      <vt:lpstr>Case Study:  Therac-25  Software &amp; Safety Failure Case Study</vt:lpstr>
      <vt:lpstr>Group Members</vt:lpstr>
      <vt:lpstr>PowerPoint Presentation</vt:lpstr>
      <vt:lpstr>Abstract</vt:lpstr>
      <vt:lpstr>Introduction</vt:lpstr>
      <vt:lpstr>Detailed incident timeline </vt:lpstr>
      <vt:lpstr>Technical root causes</vt:lpstr>
      <vt:lpstr>Evidence &amp; example reproductions</vt:lpstr>
      <vt:lpstr>How formal methods would have helped </vt:lpstr>
      <vt:lpstr>Practical mitigations &amp; checklist (detailed)</vt:lpstr>
      <vt:lpstr>System-Level Integration</vt:lpstr>
      <vt:lpstr>References &amp; further reading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Case Study:  Ariane 5 Flight 501 -  ROCKET INERTIAL SYSTEM OVERFLOW FAILURE</dc:title>
  <dc:subject/>
  <dc:creator>Aaron Fynn</dc:creator>
  <cp:keywords/>
  <dc:description>generated using python-pptx</dc:description>
  <cp:lastModifiedBy>user</cp:lastModifiedBy>
  <cp:revision>8</cp:revision>
  <dcterms:created xsi:type="dcterms:W3CDTF">2013-01-27T09:14:16Z</dcterms:created>
  <dcterms:modified xsi:type="dcterms:W3CDTF">2025-09-27T19:52:44Z</dcterms:modified>
  <cp:category/>
</cp:coreProperties>
</file>